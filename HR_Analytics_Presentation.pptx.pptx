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4" r:id="rId9"/>
    <p:sldId id="261" r:id="rId10"/>
    <p:sldId id="262"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6/21/2026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6/21/2026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6/21/2026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6/21/2026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6/21/2026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6/21/2026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6/21/2026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6/21/2026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6/21/2026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6/21/2026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6/21/2026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523019" y="1979900"/>
            <a:ext cx="6269346" cy="2190882"/>
          </a:xfrm>
        </p:spPr>
        <p:txBody>
          <a:bodyPr>
            <a:normAutofit/>
          </a:bodyPr>
          <a:lstStyle/>
          <a:p>
            <a:r>
              <a:rPr lang="en-US" sz="5000" dirty="0"/>
              <a:t>HR ANALYTICS PROJECT</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8"/>
            <a:ext cx="6269347" cy="2101285"/>
          </a:xfrm>
        </p:spPr>
        <p:txBody>
          <a:bodyPr>
            <a:normAutofit lnSpcReduction="10000"/>
          </a:bodyPr>
          <a:lstStyle/>
          <a:p>
            <a:r>
              <a:rPr lang="en-US" dirty="0">
                <a:solidFill>
                  <a:schemeClr val="tx1">
                    <a:lumMod val="85000"/>
                    <a:lumOff val="15000"/>
                  </a:schemeClr>
                </a:solidFill>
              </a:rPr>
              <a:t>Workforce Analysis and Employee Insights </a:t>
            </a:r>
          </a:p>
          <a:p>
            <a:pPr lvl="8"/>
            <a:endParaRPr lang="en-US" dirty="0">
              <a:solidFill>
                <a:schemeClr val="tx1">
                  <a:lumMod val="85000"/>
                  <a:lumOff val="15000"/>
                </a:schemeClr>
              </a:solidFill>
            </a:endParaRPr>
          </a:p>
          <a:p>
            <a:pPr lvl="8"/>
            <a:r>
              <a:rPr lang="en-US" dirty="0">
                <a:solidFill>
                  <a:schemeClr val="tx1">
                    <a:lumMod val="85000"/>
                    <a:lumOff val="15000"/>
                  </a:schemeClr>
                </a:solidFill>
              </a:rPr>
              <a:t>                                                </a:t>
            </a:r>
            <a:br>
              <a:rPr lang="en-IN" dirty="0"/>
            </a:br>
            <a:r>
              <a:rPr lang="en-IN" dirty="0"/>
              <a:t>          Presented By</a:t>
            </a:r>
          </a:p>
          <a:p>
            <a:pPr lvl="8"/>
            <a:r>
              <a:rPr lang="en-IN" dirty="0"/>
              <a:t>        N Lokesh </a:t>
            </a:r>
            <a:endParaRPr lang="en-US"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758DE-3F6F-62B3-1D4C-F98A699EF1CA}"/>
              </a:ext>
            </a:extLst>
          </p:cNvPr>
          <p:cNvSpPr>
            <a:spLocks noGrp="1"/>
          </p:cNvSpPr>
          <p:nvPr>
            <p:ph type="title"/>
          </p:nvPr>
        </p:nvSpPr>
        <p:spPr>
          <a:xfrm>
            <a:off x="1097280" y="286604"/>
            <a:ext cx="10058400" cy="1440596"/>
          </a:xfrm>
        </p:spPr>
        <p:txBody>
          <a:bodyPr/>
          <a:lstStyle/>
          <a:p>
            <a:r>
              <a:rPr lang="en-IN" dirty="0"/>
              <a:t>Business Problem</a:t>
            </a:r>
          </a:p>
        </p:txBody>
      </p:sp>
      <p:sp>
        <p:nvSpPr>
          <p:cNvPr id="3" name="Content Placeholder 2">
            <a:extLst>
              <a:ext uri="{FF2B5EF4-FFF2-40B4-BE49-F238E27FC236}">
                <a16:creationId xmlns:a16="http://schemas.microsoft.com/office/drawing/2014/main" id="{CE3669AE-D0AF-5030-9F40-A2EC805CEA7D}"/>
              </a:ext>
            </a:extLst>
          </p:cNvPr>
          <p:cNvSpPr>
            <a:spLocks noGrp="1"/>
          </p:cNvSpPr>
          <p:nvPr>
            <p:ph idx="1"/>
          </p:nvPr>
        </p:nvSpPr>
        <p:spPr>
          <a:xfrm>
            <a:off x="1097280" y="2108201"/>
            <a:ext cx="10058400" cy="3760891"/>
          </a:xfrm>
        </p:spPr>
        <p:txBody>
          <a:bodyPr>
            <a:normAutofit/>
          </a:bodyPr>
          <a:lstStyle/>
          <a:p>
            <a:pPr>
              <a:buFont typeface="Wingdings" panose="05000000000000000000" pitchFamily="2" charset="2"/>
              <a:buChar char="v"/>
            </a:pPr>
            <a:endParaRPr lang="en-US" dirty="0"/>
          </a:p>
          <a:p>
            <a:pPr>
              <a:buFont typeface="Wingdings" panose="05000000000000000000" pitchFamily="2" charset="2"/>
              <a:buChar char="v"/>
            </a:pPr>
            <a:r>
              <a:rPr lang="en-US" dirty="0"/>
              <a:t> The company has a large workforce and needs better visibility into employee data.</a:t>
            </a:r>
          </a:p>
          <a:p>
            <a:pPr>
              <a:buFont typeface="Wingdings" panose="05000000000000000000" pitchFamily="2" charset="2"/>
              <a:buChar char="v"/>
            </a:pPr>
            <a:r>
              <a:rPr lang="en-US" dirty="0"/>
              <a:t> </a:t>
            </a:r>
            <a:r>
              <a:rPr lang="en-IN" dirty="0"/>
              <a:t>HR management wants to analyse employee demographics, hiring trends, workforce distribution, and diversity metrics.</a:t>
            </a:r>
          </a:p>
          <a:p>
            <a:pPr>
              <a:buFont typeface="Wingdings" panose="05000000000000000000" pitchFamily="2" charset="2"/>
              <a:buChar char="v"/>
            </a:pPr>
            <a:r>
              <a:rPr lang="en-US" dirty="0"/>
              <a:t> Manual analysis of thousands of employee records is time-consuming and difficult.</a:t>
            </a:r>
          </a:p>
          <a:p>
            <a:pPr>
              <a:buFont typeface="Wingdings" panose="05000000000000000000" pitchFamily="2" charset="2"/>
              <a:buChar char="v"/>
            </a:pPr>
            <a:r>
              <a:rPr lang="en-US" dirty="0"/>
              <a:t> An interactive HR Analytics Dashboard is required to support data-driven workforce planning and decision-making.</a:t>
            </a:r>
            <a:endParaRPr lang="en-IN" dirty="0"/>
          </a:p>
        </p:txBody>
      </p:sp>
    </p:spTree>
    <p:extLst>
      <p:ext uri="{BB962C8B-B14F-4D97-AF65-F5344CB8AC3E}">
        <p14:creationId xmlns:p14="http://schemas.microsoft.com/office/powerpoint/2010/main" val="3369270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FA816-F482-58AA-D361-1442FF896B22}"/>
              </a:ext>
            </a:extLst>
          </p:cNvPr>
          <p:cNvSpPr>
            <a:spLocks noGrp="1"/>
          </p:cNvSpPr>
          <p:nvPr>
            <p:ph type="title"/>
          </p:nvPr>
        </p:nvSpPr>
        <p:spPr>
          <a:xfrm>
            <a:off x="1097280" y="286603"/>
            <a:ext cx="10058400" cy="1389797"/>
          </a:xfrm>
        </p:spPr>
        <p:txBody>
          <a:bodyPr/>
          <a:lstStyle/>
          <a:p>
            <a:r>
              <a:rPr lang="en-IN" dirty="0"/>
              <a:t>Dataset Overview</a:t>
            </a:r>
          </a:p>
        </p:txBody>
      </p:sp>
      <p:sp>
        <p:nvSpPr>
          <p:cNvPr id="3" name="Content Placeholder 2">
            <a:extLst>
              <a:ext uri="{FF2B5EF4-FFF2-40B4-BE49-F238E27FC236}">
                <a16:creationId xmlns:a16="http://schemas.microsoft.com/office/drawing/2014/main" id="{D8FD3A21-D1DE-4E09-01A9-09D89F144B70}"/>
              </a:ext>
            </a:extLst>
          </p:cNvPr>
          <p:cNvSpPr>
            <a:spLocks noGrp="1"/>
          </p:cNvSpPr>
          <p:nvPr>
            <p:ph idx="1"/>
          </p:nvPr>
        </p:nvSpPr>
        <p:spPr>
          <a:xfrm>
            <a:off x="1066800" y="2138681"/>
            <a:ext cx="10058400" cy="3760891"/>
          </a:xfrm>
        </p:spPr>
        <p:txBody>
          <a:bodyPr>
            <a:normAutofit/>
          </a:bodyPr>
          <a:lstStyle/>
          <a:p>
            <a:pPr>
              <a:buFont typeface="Wingdings" panose="05000000000000000000" pitchFamily="2" charset="2"/>
              <a:buChar char="v"/>
            </a:pPr>
            <a:endParaRPr lang="en-US" dirty="0"/>
          </a:p>
          <a:p>
            <a:pPr>
              <a:buFont typeface="Wingdings" panose="05000000000000000000" pitchFamily="2" charset="2"/>
              <a:buChar char="v"/>
            </a:pPr>
            <a:r>
              <a:rPr lang="en-US" dirty="0"/>
              <a:t>Total Employee’s Records:- Approximately 22,214</a:t>
            </a:r>
          </a:p>
          <a:p>
            <a:pPr>
              <a:buFont typeface="Wingdings" panose="05000000000000000000" pitchFamily="2" charset="2"/>
              <a:buChar char="v"/>
            </a:pPr>
            <a:r>
              <a:rPr lang="en-US" dirty="0"/>
              <a:t>Data Source: HR Employee Database</a:t>
            </a:r>
          </a:p>
          <a:p>
            <a:pPr>
              <a:buFont typeface="Wingdings" panose="05000000000000000000" pitchFamily="2" charset="2"/>
              <a:buChar char="v"/>
            </a:pPr>
            <a:r>
              <a:rPr lang="en-US" dirty="0"/>
              <a:t>Key Columns Used:-</a:t>
            </a:r>
          </a:p>
          <a:p>
            <a:pPr marL="0" indent="0">
              <a:buNone/>
            </a:pPr>
            <a:r>
              <a:rPr lang="en-US" dirty="0"/>
              <a:t>     Employee ID, Age, Gender, Department, State, Race, Hire Date, and Work Location (Remote/HQ)</a:t>
            </a:r>
          </a:p>
          <a:p>
            <a:pPr>
              <a:buFont typeface="Wingdings" panose="05000000000000000000" pitchFamily="2" charset="2"/>
              <a:buChar char="v"/>
            </a:pPr>
            <a:r>
              <a:rPr lang="en-US" dirty="0"/>
              <a:t>Purpose:</a:t>
            </a:r>
          </a:p>
          <a:p>
            <a:r>
              <a:rPr lang="en-US" dirty="0"/>
              <a:t>  To analyze workforce demographics, hiring trends, employee distribution, and diversity metrics.</a:t>
            </a:r>
            <a:endParaRPr lang="en-IN" dirty="0"/>
          </a:p>
        </p:txBody>
      </p:sp>
    </p:spTree>
    <p:extLst>
      <p:ext uri="{BB962C8B-B14F-4D97-AF65-F5344CB8AC3E}">
        <p14:creationId xmlns:p14="http://schemas.microsoft.com/office/powerpoint/2010/main" val="2741847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2770B-43F3-E23C-1606-E2E99FA14DE0}"/>
              </a:ext>
            </a:extLst>
          </p:cNvPr>
          <p:cNvSpPr>
            <a:spLocks noGrp="1"/>
          </p:cNvSpPr>
          <p:nvPr>
            <p:ph type="title"/>
          </p:nvPr>
        </p:nvSpPr>
        <p:spPr>
          <a:xfrm>
            <a:off x="1097280" y="286603"/>
            <a:ext cx="10058400" cy="1420277"/>
          </a:xfrm>
        </p:spPr>
        <p:txBody>
          <a:bodyPr/>
          <a:lstStyle/>
          <a:p>
            <a:r>
              <a:rPr lang="en-IN" dirty="0"/>
              <a:t>Data Cleaning Process</a:t>
            </a:r>
          </a:p>
        </p:txBody>
      </p:sp>
      <p:sp>
        <p:nvSpPr>
          <p:cNvPr id="3" name="Content Placeholder 2">
            <a:extLst>
              <a:ext uri="{FF2B5EF4-FFF2-40B4-BE49-F238E27FC236}">
                <a16:creationId xmlns:a16="http://schemas.microsoft.com/office/drawing/2014/main" id="{F6F18977-800F-1C46-7AA8-F714C6E5BE97}"/>
              </a:ext>
            </a:extLst>
          </p:cNvPr>
          <p:cNvSpPr>
            <a:spLocks noGrp="1"/>
          </p:cNvSpPr>
          <p:nvPr>
            <p:ph idx="1"/>
          </p:nvPr>
        </p:nvSpPr>
        <p:spPr/>
        <p:txBody>
          <a:bodyPr>
            <a:normAutofit/>
          </a:bodyPr>
          <a:lstStyle/>
          <a:p>
            <a:pPr marL="0" indent="0">
              <a:buNone/>
            </a:pPr>
            <a:endParaRPr lang="en-US" dirty="0"/>
          </a:p>
          <a:p>
            <a:pPr>
              <a:buFont typeface="Wingdings" panose="05000000000000000000" pitchFamily="2" charset="2"/>
              <a:buChar char="v"/>
            </a:pPr>
            <a:r>
              <a:rPr lang="en-US" dirty="0"/>
              <a:t>Connected to the HR database and imported the dataset.</a:t>
            </a:r>
          </a:p>
          <a:p>
            <a:pPr>
              <a:buFont typeface="Wingdings" panose="05000000000000000000" pitchFamily="2" charset="2"/>
              <a:buChar char="v"/>
            </a:pPr>
            <a:r>
              <a:rPr lang="en-US" dirty="0"/>
              <a:t>Standardized column names for consistency and readability.</a:t>
            </a:r>
          </a:p>
          <a:p>
            <a:pPr>
              <a:buFont typeface="Wingdings" panose="05000000000000000000" pitchFamily="2" charset="2"/>
              <a:buChar char="v"/>
            </a:pPr>
            <a:r>
              <a:rPr lang="en-US" dirty="0"/>
              <a:t>Checked for missing values and found no missing records.</a:t>
            </a:r>
          </a:p>
          <a:p>
            <a:pPr>
              <a:buFont typeface="Wingdings" panose="05000000000000000000" pitchFamily="2" charset="2"/>
              <a:buChar char="v"/>
            </a:pPr>
            <a:r>
              <a:rPr lang="en-US" dirty="0"/>
              <a:t>Checked for duplicate records and found no duplicates.</a:t>
            </a:r>
          </a:p>
          <a:p>
            <a:pPr>
              <a:buFont typeface="Wingdings" panose="05000000000000000000" pitchFamily="2" charset="2"/>
              <a:buChar char="v"/>
            </a:pPr>
            <a:r>
              <a:rPr lang="en-US" dirty="0"/>
              <a:t>Validated data quality and prepared the dataset for analysis.</a:t>
            </a:r>
            <a:endParaRPr lang="en-IN" dirty="0"/>
          </a:p>
        </p:txBody>
      </p:sp>
    </p:spTree>
    <p:extLst>
      <p:ext uri="{BB962C8B-B14F-4D97-AF65-F5344CB8AC3E}">
        <p14:creationId xmlns:p14="http://schemas.microsoft.com/office/powerpoint/2010/main" val="14133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245BE77-7A98-746E-B2AC-9ABEDF572EDE}"/>
              </a:ext>
            </a:extLst>
          </p:cNvPr>
          <p:cNvSpPr>
            <a:spLocks noGrp="1"/>
          </p:cNvSpPr>
          <p:nvPr>
            <p:ph type="title"/>
          </p:nvPr>
        </p:nvSpPr>
        <p:spPr>
          <a:xfrm>
            <a:off x="1097280" y="1"/>
            <a:ext cx="8524240" cy="883919"/>
          </a:xfrm>
        </p:spPr>
        <p:txBody>
          <a:bodyPr>
            <a:normAutofit/>
          </a:bodyPr>
          <a:lstStyle/>
          <a:p>
            <a:r>
              <a:rPr lang="en-IN" u="sng" dirty="0"/>
              <a:t>HR Analytics Dashboard</a:t>
            </a:r>
          </a:p>
        </p:txBody>
      </p:sp>
      <p:pic>
        <p:nvPicPr>
          <p:cNvPr id="21" name="Content Placeholder 20">
            <a:extLst>
              <a:ext uri="{FF2B5EF4-FFF2-40B4-BE49-F238E27FC236}">
                <a16:creationId xmlns:a16="http://schemas.microsoft.com/office/drawing/2014/main" id="{25A1567F-BB42-9436-8518-2CE6CA589E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3441" y="965200"/>
            <a:ext cx="10454640" cy="4998720"/>
          </a:xfrm>
          <a:prstGeom prst="rect">
            <a:avLst/>
          </a:prstGeom>
        </p:spPr>
      </p:pic>
    </p:spTree>
    <p:extLst>
      <p:ext uri="{BB962C8B-B14F-4D97-AF65-F5344CB8AC3E}">
        <p14:creationId xmlns:p14="http://schemas.microsoft.com/office/powerpoint/2010/main" val="1323898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0E10-79DD-D293-212A-753226A1DDED}"/>
              </a:ext>
            </a:extLst>
          </p:cNvPr>
          <p:cNvSpPr>
            <a:spLocks noGrp="1"/>
          </p:cNvSpPr>
          <p:nvPr>
            <p:ph type="title"/>
          </p:nvPr>
        </p:nvSpPr>
        <p:spPr>
          <a:xfrm>
            <a:off x="1097280" y="286603"/>
            <a:ext cx="10058400" cy="1349157"/>
          </a:xfrm>
        </p:spPr>
        <p:txBody>
          <a:bodyPr/>
          <a:lstStyle/>
          <a:p>
            <a:r>
              <a:rPr lang="en-IN" dirty="0"/>
              <a:t>Key Business Insights</a:t>
            </a:r>
          </a:p>
        </p:txBody>
      </p:sp>
      <p:sp>
        <p:nvSpPr>
          <p:cNvPr id="3" name="Content Placeholder 2">
            <a:extLst>
              <a:ext uri="{FF2B5EF4-FFF2-40B4-BE49-F238E27FC236}">
                <a16:creationId xmlns:a16="http://schemas.microsoft.com/office/drawing/2014/main" id="{13F1AF89-FBAF-16F3-667F-02EB5D8DBC46}"/>
              </a:ext>
            </a:extLst>
          </p:cNvPr>
          <p:cNvSpPr>
            <a:spLocks noGrp="1"/>
          </p:cNvSpPr>
          <p:nvPr>
            <p:ph idx="1"/>
          </p:nvPr>
        </p:nvSpPr>
        <p:spPr>
          <a:xfrm>
            <a:off x="883920" y="1727201"/>
            <a:ext cx="10576560" cy="4480560"/>
          </a:xfrm>
        </p:spPr>
        <p:txBody>
          <a:bodyPr>
            <a:normAutofit/>
          </a:bodyPr>
          <a:lstStyle/>
          <a:p>
            <a:pPr>
              <a:buFont typeface="Wingdings" panose="05000000000000000000" pitchFamily="2" charset="2"/>
              <a:buChar char="v"/>
            </a:pPr>
            <a:endParaRPr lang="en-US" dirty="0"/>
          </a:p>
          <a:p>
            <a:pPr>
              <a:buFont typeface="Wingdings" panose="05000000000000000000" pitchFamily="2" charset="2"/>
              <a:buChar char="v"/>
            </a:pPr>
            <a:r>
              <a:rPr lang="en-US" dirty="0"/>
              <a:t>The organization has approximately 22,214 employees.</a:t>
            </a:r>
          </a:p>
          <a:p>
            <a:pPr>
              <a:buFont typeface="Wingdings" panose="05000000000000000000" pitchFamily="2" charset="2"/>
              <a:buChar char="v"/>
            </a:pPr>
            <a:r>
              <a:rPr lang="en-US" dirty="0"/>
              <a:t>The average employee age is 38.4 years, indicating a mature workforce.</a:t>
            </a:r>
          </a:p>
          <a:p>
            <a:pPr>
              <a:buFont typeface="Wingdings" panose="05000000000000000000" pitchFamily="2" charset="2"/>
              <a:buChar char="v"/>
            </a:pPr>
            <a:r>
              <a:rPr lang="en-US" dirty="0"/>
              <a:t>75.25% of employees work from headquarters, while 24.75% work remotely.</a:t>
            </a:r>
          </a:p>
          <a:p>
            <a:pPr>
              <a:buFont typeface="Wingdings" panose="05000000000000000000" pitchFamily="2" charset="2"/>
              <a:buChar char="v"/>
            </a:pPr>
            <a:r>
              <a:rPr lang="en-US" dirty="0"/>
              <a:t>Hiring activity reached its peak in 2018 with 1,147 new hires.</a:t>
            </a:r>
          </a:p>
          <a:p>
            <a:pPr>
              <a:buFont typeface="Wingdings" panose="05000000000000000000" pitchFamily="2" charset="2"/>
              <a:buChar char="v"/>
            </a:pPr>
            <a:r>
              <a:rPr lang="en-US" dirty="0"/>
              <a:t>Male employees represent 50.81% of the workforce, while female employees represent 46.46%.</a:t>
            </a:r>
          </a:p>
          <a:p>
            <a:pPr>
              <a:buFont typeface="Wingdings" panose="05000000000000000000" pitchFamily="2" charset="2"/>
              <a:buChar char="v"/>
            </a:pPr>
            <a:r>
              <a:rPr lang="en-US" dirty="0"/>
              <a:t>Engineering is the largest department, indicating a strong focus on technical operations.</a:t>
            </a:r>
          </a:p>
          <a:p>
            <a:pPr>
              <a:buFont typeface="Wingdings" panose="05000000000000000000" pitchFamily="2" charset="2"/>
              <a:buChar char="v"/>
            </a:pPr>
            <a:r>
              <a:rPr lang="en-US" dirty="0"/>
              <a:t>Ohio has the highest employee concentration, making it the primary workforce location.</a:t>
            </a:r>
          </a:p>
        </p:txBody>
      </p:sp>
    </p:spTree>
    <p:extLst>
      <p:ext uri="{BB962C8B-B14F-4D97-AF65-F5344CB8AC3E}">
        <p14:creationId xmlns:p14="http://schemas.microsoft.com/office/powerpoint/2010/main" val="283788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49A25-C471-E0E8-6A95-0B989AC99596}"/>
              </a:ext>
            </a:extLst>
          </p:cNvPr>
          <p:cNvSpPr>
            <a:spLocks noGrp="1"/>
          </p:cNvSpPr>
          <p:nvPr>
            <p:ph type="title"/>
          </p:nvPr>
        </p:nvSpPr>
        <p:spPr>
          <a:xfrm>
            <a:off x="1097280" y="497840"/>
            <a:ext cx="10058400" cy="1148080"/>
          </a:xfrm>
        </p:spPr>
        <p:txBody>
          <a:bodyPr/>
          <a:lstStyle/>
          <a:p>
            <a:r>
              <a:rPr lang="en-IN" dirty="0"/>
              <a:t>Recommendations</a:t>
            </a:r>
          </a:p>
        </p:txBody>
      </p:sp>
      <p:sp>
        <p:nvSpPr>
          <p:cNvPr id="3" name="Content Placeholder 2">
            <a:extLst>
              <a:ext uri="{FF2B5EF4-FFF2-40B4-BE49-F238E27FC236}">
                <a16:creationId xmlns:a16="http://schemas.microsoft.com/office/drawing/2014/main" id="{F32222C9-F198-13A3-5F5C-957F354BCA3E}"/>
              </a:ext>
            </a:extLst>
          </p:cNvPr>
          <p:cNvSpPr>
            <a:spLocks noGrp="1"/>
          </p:cNvSpPr>
          <p:nvPr>
            <p:ph idx="1"/>
          </p:nvPr>
        </p:nvSpPr>
        <p:spPr/>
        <p:txBody>
          <a:bodyPr>
            <a:normAutofit/>
          </a:bodyPr>
          <a:lstStyle/>
          <a:p>
            <a:pPr marL="0" indent="0">
              <a:buNone/>
            </a:pPr>
            <a:endParaRPr lang="en-US" dirty="0"/>
          </a:p>
          <a:p>
            <a:pPr>
              <a:buFont typeface="Wingdings" panose="05000000000000000000" pitchFamily="2" charset="2"/>
              <a:buChar char="v"/>
            </a:pPr>
            <a:r>
              <a:rPr lang="en-US" dirty="0"/>
              <a:t>Continue workforce planning based on hiring trends and department requirements.</a:t>
            </a:r>
          </a:p>
          <a:p>
            <a:pPr>
              <a:buFont typeface="Wingdings" panose="05000000000000000000" pitchFamily="2" charset="2"/>
              <a:buChar char="v"/>
            </a:pPr>
            <a:r>
              <a:rPr lang="en-US" dirty="0"/>
              <a:t>Strengthen diversity and inclusion initiatives to improve representation across underrepresented groups.</a:t>
            </a:r>
          </a:p>
          <a:p>
            <a:pPr>
              <a:buFont typeface="Wingdings" panose="05000000000000000000" pitchFamily="2" charset="2"/>
              <a:buChar char="v"/>
            </a:pPr>
            <a:r>
              <a:rPr lang="en-US" dirty="0"/>
              <a:t>Explore additional remote work opportunities to improve workforce flexibility and employee satisfaction.</a:t>
            </a:r>
          </a:p>
          <a:p>
            <a:pPr>
              <a:buFont typeface="Wingdings" panose="05000000000000000000" pitchFamily="2" charset="2"/>
              <a:buChar char="v"/>
            </a:pPr>
            <a:r>
              <a:rPr lang="en-US" dirty="0"/>
              <a:t>Monitor workforce distribution across states to support future expansion and resource allocation.</a:t>
            </a:r>
            <a:endParaRPr lang="en-IN" dirty="0"/>
          </a:p>
        </p:txBody>
      </p:sp>
    </p:spTree>
    <p:extLst>
      <p:ext uri="{BB962C8B-B14F-4D97-AF65-F5344CB8AC3E}">
        <p14:creationId xmlns:p14="http://schemas.microsoft.com/office/powerpoint/2010/main" val="2871391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08EE5-ECF6-BF7D-D755-9F69BB75A76A}"/>
              </a:ext>
            </a:extLst>
          </p:cNvPr>
          <p:cNvSpPr>
            <a:spLocks noGrp="1"/>
          </p:cNvSpPr>
          <p:nvPr>
            <p:ph type="title"/>
          </p:nvPr>
        </p:nvSpPr>
        <p:spPr>
          <a:xfrm>
            <a:off x="1097280" y="286603"/>
            <a:ext cx="10058400" cy="1359317"/>
          </a:xfrm>
        </p:spPr>
        <p:txBody>
          <a:bodyPr/>
          <a:lstStyle/>
          <a:p>
            <a:r>
              <a:rPr lang="en-IN" dirty="0"/>
              <a:t>Conclusion</a:t>
            </a:r>
          </a:p>
        </p:txBody>
      </p:sp>
      <p:sp>
        <p:nvSpPr>
          <p:cNvPr id="3" name="Content Placeholder 2">
            <a:extLst>
              <a:ext uri="{FF2B5EF4-FFF2-40B4-BE49-F238E27FC236}">
                <a16:creationId xmlns:a16="http://schemas.microsoft.com/office/drawing/2014/main" id="{3F83840B-6882-C787-BEF8-6A63F756B433}"/>
              </a:ext>
            </a:extLst>
          </p:cNvPr>
          <p:cNvSpPr>
            <a:spLocks noGrp="1"/>
          </p:cNvSpPr>
          <p:nvPr>
            <p:ph idx="1"/>
          </p:nvPr>
        </p:nvSpPr>
        <p:spPr>
          <a:xfrm>
            <a:off x="1097280" y="2108201"/>
            <a:ext cx="10058400" cy="4109719"/>
          </a:xfrm>
        </p:spPr>
        <p:txBody>
          <a:bodyPr/>
          <a:lstStyle/>
          <a:p>
            <a:endParaRPr lang="en-US" dirty="0"/>
          </a:p>
          <a:p>
            <a:pPr>
              <a:buFont typeface="Wingdings" panose="05000000000000000000" pitchFamily="2" charset="2"/>
              <a:buChar char="v"/>
            </a:pPr>
            <a:r>
              <a:rPr lang="en-US" dirty="0"/>
              <a:t>The HR Analytics Dashboard successfully analyzed employee demographics, hiring trends, workforce distribution, and diversity metrics. The dashboard provided valuable insights into employee composition, hiring patterns, and workforce allocation across departments and states.</a:t>
            </a:r>
          </a:p>
          <a:p>
            <a:pPr>
              <a:buFont typeface="Wingdings" panose="05000000000000000000" pitchFamily="2" charset="2"/>
              <a:buChar char="v"/>
            </a:pPr>
            <a:r>
              <a:rPr lang="en-US" dirty="0"/>
              <a:t>These insights can support data-driven HR decision-making, workforce planning, diversity initiatives, and future organizational growth.</a:t>
            </a:r>
          </a:p>
          <a:p>
            <a:pPr>
              <a:buFont typeface="Wingdings" panose="05000000000000000000" pitchFamily="2" charset="2"/>
              <a:buChar char="v"/>
            </a:pPr>
            <a:endParaRPr lang="en-US" dirty="0"/>
          </a:p>
          <a:p>
            <a:pPr marL="0" indent="0">
              <a:buNone/>
            </a:pPr>
            <a:r>
              <a:rPr lang="en-US" dirty="0"/>
              <a:t>                                                </a:t>
            </a:r>
            <a:r>
              <a:rPr lang="en-US" sz="4000" b="1" dirty="0">
                <a:latin typeface="Castellar" panose="020A0402060406010301" pitchFamily="18" charset="0"/>
              </a:rPr>
              <a:t>Thank You!</a:t>
            </a:r>
            <a:endParaRPr lang="en-IN" sz="4000" b="1" dirty="0">
              <a:latin typeface="Castellar" panose="020A0402060406010301" pitchFamily="18" charset="0"/>
            </a:endParaRPr>
          </a:p>
        </p:txBody>
      </p:sp>
    </p:spTree>
    <p:extLst>
      <p:ext uri="{BB962C8B-B14F-4D97-AF65-F5344CB8AC3E}">
        <p14:creationId xmlns:p14="http://schemas.microsoft.com/office/powerpoint/2010/main" val="4278558205"/>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{8764FCCA-5FB1-47B7-98D9-A1A1D140C8D5}TFf0a5ceae-4542-492d-822e-d65a94fb0e1e3b562c5a_win32-009a0557e699</Template>
  <TotalTime>68</TotalTime>
  <Words>400</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Bookman Old Style</vt:lpstr>
      <vt:lpstr>Calibri</vt:lpstr>
      <vt:lpstr>Castellar</vt:lpstr>
      <vt:lpstr>Franklin Gothic Book</vt:lpstr>
      <vt:lpstr>Wingdings</vt:lpstr>
      <vt:lpstr>Custom</vt:lpstr>
      <vt:lpstr>HR ANALYTICS PROJECT</vt:lpstr>
      <vt:lpstr>Business Problem</vt:lpstr>
      <vt:lpstr>Dataset Overview</vt:lpstr>
      <vt:lpstr>Data Cleaning Process</vt:lpstr>
      <vt:lpstr>HR Analytics Dashboard</vt:lpstr>
      <vt:lpstr>Key Business Insights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LOKESH N</dc:creator>
  <cp:lastModifiedBy>LOKESH N</cp:lastModifiedBy>
  <cp:revision>1</cp:revision>
  <dcterms:created xsi:type="dcterms:W3CDTF">2026-06-21T06:56:37Z</dcterms:created>
  <dcterms:modified xsi:type="dcterms:W3CDTF">2026-06-21T08:05:02Z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